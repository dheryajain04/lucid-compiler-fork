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16736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F46E5"/>
                </a:solidFill>
                <a:latin typeface="Arial"/>
              </a:rPr>
              <a:t>COMPILER DESIGN  ·  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19072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111827"/>
                </a:solidFill>
                <a:latin typeface="Arial"/>
              </a:rPr>
              <a:t>Lucid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35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11827"/>
                </a:solidFill>
                <a:latin typeface="Arial"/>
              </a:rPr>
              <a:t>A compiler you can </a:t>
            </a:r>
            <a:r>
              <a:rPr sz="3000" b="1" i="0">
                <a:solidFill>
                  <a:srgbClr val="4F46E5"/>
                </a:solidFill>
                <a:latin typeface="Arial"/>
              </a:rPr>
              <a:t>see through</a:t>
            </a:r>
            <a:r>
              <a:rPr sz="3000" b="0" i="0">
                <a:solidFill>
                  <a:srgbClr val="111827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6732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48B"/>
                </a:solidFill>
                <a:latin typeface="Arial"/>
              </a:rPr>
              <a:t>Built from scratch in C++17  ·  live playground  ·  AI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35424"/>
            <a:ext cx="2006742" cy="731520"/>
          </a:xfrm>
          <a:prstGeom prst="roundRect">
            <a:avLst>
              <a:gd name="adj" fmla="val 5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535424"/>
            <a:ext cx="2006742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4654296"/>
            <a:ext cx="186043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Arial"/>
              </a:rPr>
              <a:t>LEXER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48B"/>
                </a:solidFill>
                <a:latin typeface="Arial"/>
              </a:rPr>
              <a:t>text to tokens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4254" y="4828032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66278" y="4535424"/>
            <a:ext cx="2006742" cy="731520"/>
          </a:xfrm>
          <a:prstGeom prst="roundRect">
            <a:avLst>
              <a:gd name="adj" fmla="val 5000"/>
            </a:avLst>
          </a:prstGeom>
          <a:solidFill>
            <a:srgbClr val="E7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66278" y="4535424"/>
            <a:ext cx="2006742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9430" y="4654296"/>
            <a:ext cx="186043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PARSER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48B"/>
                </a:solidFill>
                <a:latin typeface="Arial"/>
              </a:rPr>
              <a:t>tokens to tree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00452" y="4828032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2476" y="4535424"/>
            <a:ext cx="2006742" cy="731520"/>
          </a:xfrm>
          <a:prstGeom prst="roundRect">
            <a:avLst>
              <a:gd name="adj" fmla="val 5000"/>
            </a:avLst>
          </a:prstGeom>
          <a:solidFill>
            <a:srgbClr val="F2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92476" y="4535424"/>
            <a:ext cx="2006742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5628" y="4654296"/>
            <a:ext cx="186043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SEMANTIC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48B"/>
                </a:solidFill>
                <a:latin typeface="Arial"/>
              </a:rPr>
              <a:t>types &amp; scopes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26650" y="4828032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8674" y="4535424"/>
            <a:ext cx="2006742" cy="731520"/>
          </a:xfrm>
          <a:prstGeom prst="roundRect">
            <a:avLst>
              <a:gd name="adj" fmla="val 5000"/>
            </a:avLst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8674" y="4535424"/>
            <a:ext cx="2006742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1826" y="4654296"/>
            <a:ext cx="186043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D9488"/>
                </a:solidFill>
                <a:latin typeface="Arial"/>
              </a:rPr>
              <a:t>OPTIMIZER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48B"/>
                </a:solidFill>
                <a:latin typeface="Arial"/>
              </a:rPr>
              <a:t>shrink the tree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52848" y="4828032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44872" y="4535424"/>
            <a:ext cx="2006742" cy="731520"/>
          </a:xfrm>
          <a:prstGeom prst="roundRect">
            <a:avLst>
              <a:gd name="adj" fmla="val 5000"/>
            </a:avLst>
          </a:prstGeom>
          <a:solidFill>
            <a:srgbClr val="FD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44872" y="4535424"/>
            <a:ext cx="2006742" cy="502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8024" y="4654296"/>
            <a:ext cx="186043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1D48"/>
                </a:solidFill>
                <a:latin typeface="Arial"/>
              </a:rPr>
              <a:t>INTERPRETER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48B"/>
                </a:solidFill>
                <a:latin typeface="Arial"/>
              </a:rPr>
              <a:t>run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50992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11827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8990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48B"/>
                </a:solidFill>
                <a:latin typeface="Arial"/>
              </a:rPr>
              <a:t>PHASES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5650992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11827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608990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48B"/>
                </a:solidFill>
                <a:latin typeface="Arial"/>
              </a:rPr>
              <a:t>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650992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11827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608990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48B"/>
                </a:solidFill>
                <a:latin typeface="Arial"/>
              </a:rPr>
              <a:t>AI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5650992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11827"/>
                </a:solidFill>
                <a:latin typeface="Arial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608990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48B"/>
                </a:solidFill>
                <a:latin typeface="Arial"/>
              </a:rPr>
              <a:t>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</a:rPr>
              <a:t>A compiler is a black box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88236"/>
            <a:ext cx="91440" cy="914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92224"/>
            <a:ext cx="53218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A4357"/>
                </a:solidFill>
                <a:latin typeface="Arial"/>
              </a:rPr>
              <a:t>You never see the tokens.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382012"/>
            <a:ext cx="91440" cy="914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86000"/>
            <a:ext cx="53218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A4357"/>
                </a:solidFill>
                <a:latin typeface="Arial"/>
              </a:rPr>
              <a:t>You never see the syntax tree.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75788"/>
            <a:ext cx="91440" cy="914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779776"/>
            <a:ext cx="53218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A4357"/>
                </a:solidFill>
                <a:latin typeface="Arial"/>
              </a:rPr>
              <a:t>You never see the symbol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11296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48B"/>
                </a:solidFill>
                <a:latin typeface="Arial"/>
              </a:rPr>
              <a:t>And when it fails, you get a line number.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48B"/>
                </a:solidFill>
                <a:latin typeface="Arial"/>
              </a:rPr>
              <a:t>Never which phase rejected your code, or why.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98848"/>
            <a:ext cx="5577840" cy="914400"/>
          </a:xfrm>
          <a:prstGeom prst="roundRect">
            <a:avLst>
              <a:gd name="adj" fmla="val 5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98848"/>
            <a:ext cx="54864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590288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11827"/>
                </a:solidFill>
                <a:latin typeface="Arial"/>
              </a:rPr>
              <a:t>Internals are invisible.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11827"/>
                </a:solidFill>
                <a:latin typeface="Arial"/>
              </a:rPr>
              <a:t>Errors are unexplained.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6007" y="1847088"/>
            <a:ext cx="3566160" cy="58521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4357"/>
                </a:solidFill>
                <a:latin typeface="Courier New"/>
              </a:rPr>
              <a:t>int x = "hello";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058503" y="2542032"/>
            <a:ext cx="201168" cy="310896"/>
          </a:xfrm>
          <a:prstGeom prst="down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76007" y="2980944"/>
            <a:ext cx="3566160" cy="1225296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21945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6007" y="3785615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0A8BA"/>
                </a:solidFill>
                <a:latin typeface="Arial"/>
              </a:rPr>
              <a:t>5 phases  ·  none of them visible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058503" y="4315968"/>
            <a:ext cx="201168" cy="310896"/>
          </a:xfrm>
          <a:prstGeom prst="down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76007" y="4754880"/>
            <a:ext cx="3566160" cy="566928"/>
          </a:xfrm>
          <a:prstGeom prst="roundRect">
            <a:avLst>
              <a:gd name="adj" fmla="val 5000"/>
            </a:avLst>
          </a:prstGeom>
          <a:solidFill>
            <a:srgbClr val="FD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11D48"/>
                </a:solidFill>
                <a:latin typeface="Courier New"/>
              </a:rPr>
              <a:t>error: line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459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A8BA"/>
                </a:solidFill>
                <a:latin typeface="Arial"/>
              </a:rPr>
              <a:t>LUCID</a:t>
            </a:r>
            <a:r>
              <a:rPr sz="950" b="1" i="0">
                <a:solidFill>
                  <a:srgbClr val="A0A8BA"/>
                </a:solidFill>
                <a:latin typeface="Arial"/>
              </a:rPr>
              <a:t>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</a:rPr>
              <a:t>Lucid opens the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9344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11827"/>
                </a:solidFill>
                <a:latin typeface="Arial"/>
              </a:rPr>
              <a:t>A real compiler that shows its own internals — live, as you 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7860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48B"/>
                </a:solidFill>
                <a:latin typeface="Arial"/>
              </a:rPr>
              <a:t>FIVE PHASES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71215"/>
            <a:ext cx="2006742" cy="804672"/>
          </a:xfrm>
          <a:prstGeom prst="roundRect">
            <a:avLst>
              <a:gd name="adj" fmla="val 5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871215"/>
            <a:ext cx="2006742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2990087"/>
            <a:ext cx="186043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706"/>
                </a:solidFill>
                <a:latin typeface="Arial"/>
              </a:rPr>
              <a:t>LEXER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48B"/>
                </a:solidFill>
                <a:latin typeface="Arial"/>
              </a:rPr>
              <a:t>text to tokens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74254" y="3200399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66278" y="2871215"/>
            <a:ext cx="2006742" cy="804672"/>
          </a:xfrm>
          <a:prstGeom prst="roundRect">
            <a:avLst>
              <a:gd name="adj" fmla="val 5000"/>
            </a:avLst>
          </a:prstGeom>
          <a:solidFill>
            <a:srgbClr val="E7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6278" y="2871215"/>
            <a:ext cx="2006742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9430" y="2990087"/>
            <a:ext cx="186043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Arial"/>
              </a:rPr>
              <a:t>PARSER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48B"/>
                </a:solidFill>
                <a:latin typeface="Arial"/>
              </a:rPr>
              <a:t>tokens to tree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00452" y="3200399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92476" y="2871215"/>
            <a:ext cx="2006742" cy="804672"/>
          </a:xfrm>
          <a:prstGeom prst="roundRect">
            <a:avLst>
              <a:gd name="adj" fmla="val 5000"/>
            </a:avLst>
          </a:prstGeom>
          <a:solidFill>
            <a:srgbClr val="F2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92476" y="2871215"/>
            <a:ext cx="2006742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5628" y="2990087"/>
            <a:ext cx="186043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C3AED"/>
                </a:solidFill>
                <a:latin typeface="Arial"/>
              </a:rPr>
              <a:t>SEMANTIC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48B"/>
                </a:solidFill>
                <a:latin typeface="Arial"/>
              </a:rPr>
              <a:t>types &amp; scopes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6650" y="3200399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8674" y="2871215"/>
            <a:ext cx="2006742" cy="804672"/>
          </a:xfrm>
          <a:prstGeom prst="roundRect">
            <a:avLst>
              <a:gd name="adj" fmla="val 5000"/>
            </a:avLst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8674" y="2871215"/>
            <a:ext cx="2006742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1826" y="2990087"/>
            <a:ext cx="186043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9488"/>
                </a:solidFill>
                <a:latin typeface="Arial"/>
              </a:rPr>
              <a:t>OPTIMIZER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48B"/>
                </a:solidFill>
                <a:latin typeface="Arial"/>
              </a:rPr>
              <a:t>shrink the tree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52848" y="3200399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44872" y="2871215"/>
            <a:ext cx="2006742" cy="804672"/>
          </a:xfrm>
          <a:prstGeom prst="roundRect">
            <a:avLst>
              <a:gd name="adj" fmla="val 5000"/>
            </a:avLst>
          </a:prstGeom>
          <a:solidFill>
            <a:srgbClr val="FD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44872" y="2871215"/>
            <a:ext cx="2006742" cy="502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8024" y="2990087"/>
            <a:ext cx="186043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1D48"/>
                </a:solidFill>
                <a:latin typeface="Arial"/>
              </a:rPr>
              <a:t>INTERPRETER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6B748B"/>
                </a:solidFill>
                <a:latin typeface="Arial"/>
              </a:rPr>
              <a:t>run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319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48B"/>
                </a:solidFill>
                <a:latin typeface="Arial"/>
              </a:rPr>
              <a:t>EVERY ONE OF THEM VISIBLE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42816"/>
            <a:ext cx="2021372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7706"/>
                </a:solidFill>
                <a:latin typeface="Arial"/>
              </a:rPr>
              <a:t>Tokens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62620" y="4242816"/>
            <a:ext cx="2021372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563EB"/>
                </a:solidFill>
                <a:latin typeface="Arial"/>
              </a:rPr>
              <a:t>Syntax tree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85161" y="4242816"/>
            <a:ext cx="2021372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3AED"/>
                </a:solidFill>
                <a:latin typeface="Arial"/>
              </a:rPr>
              <a:t>Symbol 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07701" y="4242816"/>
            <a:ext cx="2021372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D9488"/>
                </a:solidFill>
                <a:latin typeface="Arial"/>
              </a:rPr>
              <a:t>Optimizer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0242" y="4242816"/>
            <a:ext cx="2021372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11D48"/>
                </a:solidFill>
                <a:latin typeface="Arial"/>
              </a:rPr>
              <a:t>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84064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084064"/>
            <a:ext cx="54864" cy="7863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175503"/>
            <a:ext cx="1036289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11827"/>
                </a:solidFill>
                <a:latin typeface="Arial"/>
              </a:rPr>
              <a:t>Type a character — every panel refreshes in 300 milliseconds.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3459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A8BA"/>
                </a:solidFill>
                <a:latin typeface="Arial"/>
              </a:rPr>
              <a:t>LUCID</a:t>
            </a:r>
            <a:r>
              <a:rPr sz="950" b="1" i="0">
                <a:solidFill>
                  <a:srgbClr val="A0A8BA"/>
                </a:solidFill>
                <a:latin typeface="Arial"/>
              </a:rPr>
              <a:t>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</a:rPr>
              <a:t>What we set out to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64208"/>
            <a:ext cx="3454298" cy="159105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54864" cy="15910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75104"/>
            <a:ext cx="290565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Build it by hand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23744"/>
            <a:ext cx="290565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No Lex. No Yacc. No frameworks.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664208"/>
            <a:ext cx="3454298" cy="159105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698" y="1664208"/>
            <a:ext cx="54864" cy="15910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1306" y="1975104"/>
            <a:ext cx="290565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Show every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1306" y="2523744"/>
            <a:ext cx="290565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Each phase renders its own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664208"/>
            <a:ext cx="3454298" cy="159105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7316" y="1664208"/>
            <a:ext cx="54864" cy="159105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9924" y="1975104"/>
            <a:ext cx="290565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Name the phase that failed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9924" y="2523744"/>
            <a:ext cx="290565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Lexical, syntax, semantic or runtime.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454298" cy="159105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54864" cy="15910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77056"/>
            <a:ext cx="290565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Optimise and prove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425696"/>
            <a:ext cx="290565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A measured before and after 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3566160"/>
            <a:ext cx="3454298" cy="159105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8698" y="3566160"/>
            <a:ext cx="54864" cy="159105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1306" y="3877056"/>
            <a:ext cx="290565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Report all errors at once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1306" y="4425696"/>
            <a:ext cx="290565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Never stop at the first mistake.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3566160"/>
            <a:ext cx="3454298" cy="159105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3566160"/>
            <a:ext cx="54864" cy="159105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9924" y="3877056"/>
            <a:ext cx="290565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AI explains, never decides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9924" y="4425696"/>
            <a:ext cx="290565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The compiler has the final say.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459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A8BA"/>
                </a:solidFill>
                <a:latin typeface="Arial"/>
              </a:rPr>
              <a:t>LUCID</a:t>
            </a:r>
            <a:r>
              <a:rPr sz="950" b="1" i="0">
                <a:solidFill>
                  <a:srgbClr val="A0A8BA"/>
                </a:solidFill>
                <a:latin typeface="Arial"/>
              </a:rPr>
              <a:t>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</a:rPr>
              <a:t>Where we drew the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9344"/>
            <a:ext cx="5254599" cy="3163824"/>
          </a:xfrm>
          <a:prstGeom prst="roundRect">
            <a:avLst>
              <a:gd name="adj" fmla="val 5000"/>
            </a:avLst>
          </a:prstGeom>
          <a:solidFill>
            <a:srgbClr val="E4F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9344"/>
            <a:ext cx="5254599" cy="640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901952"/>
            <a:ext cx="46328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59669"/>
                </a:solidFill>
                <a:latin typeface="Arial"/>
              </a:rPr>
              <a:t>WE BUILT</a:t>
            </a:r>
          </a:p>
        </p:txBody>
      </p:sp>
      <p:sp>
        <p:nvSpPr>
          <p:cNvPr id="7" name="Oval 6"/>
          <p:cNvSpPr/>
          <p:nvPr/>
        </p:nvSpPr>
        <p:spPr>
          <a:xfrm>
            <a:off x="950976" y="2491740"/>
            <a:ext cx="77724" cy="7772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39572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A statically-typed language</a:t>
            </a:r>
          </a:p>
        </p:txBody>
      </p:sp>
      <p:sp>
        <p:nvSpPr>
          <p:cNvPr id="9" name="Oval 8"/>
          <p:cNvSpPr/>
          <p:nvPr/>
        </p:nvSpPr>
        <p:spPr>
          <a:xfrm>
            <a:off x="950976" y="2857500"/>
            <a:ext cx="77724" cy="7772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6148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All five phases, hand-written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3223260"/>
            <a:ext cx="77724" cy="7772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12724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Type checking and a symbol table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3589020"/>
            <a:ext cx="77724" cy="7772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49300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Constant folding and dead-code removal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3954780"/>
            <a:ext cx="77724" cy="7772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5876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Four kinds of error, clearly named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" y="4320540"/>
            <a:ext cx="77724" cy="7772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22452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A playground and a command-line tool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7015" y="1609344"/>
            <a:ext cx="5254599" cy="3163824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7015" y="1609344"/>
            <a:ext cx="5254599" cy="64008"/>
          </a:xfrm>
          <a:prstGeom prst="rect">
            <a:avLst/>
          </a:prstGeom>
          <a:solidFill>
            <a:srgbClr val="6B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7911" y="1901952"/>
            <a:ext cx="46328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B748B"/>
                </a:solidFill>
                <a:latin typeface="Arial"/>
              </a:rPr>
              <a:t>WE DID NOT</a:t>
            </a:r>
          </a:p>
        </p:txBody>
      </p:sp>
      <p:sp>
        <p:nvSpPr>
          <p:cNvPr id="22" name="Oval 21"/>
          <p:cNvSpPr/>
          <p:nvPr/>
        </p:nvSpPr>
        <p:spPr>
          <a:xfrm>
            <a:off x="6607911" y="2491740"/>
            <a:ext cx="77724" cy="77724"/>
          </a:xfrm>
          <a:prstGeom prst="ellipse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63943" y="239572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Generate machine code</a:t>
            </a:r>
          </a:p>
        </p:txBody>
      </p:sp>
      <p:sp>
        <p:nvSpPr>
          <p:cNvPr id="24" name="Oval 23"/>
          <p:cNvSpPr/>
          <p:nvPr/>
        </p:nvSpPr>
        <p:spPr>
          <a:xfrm>
            <a:off x="6607911" y="2857500"/>
            <a:ext cx="77724" cy="77724"/>
          </a:xfrm>
          <a:prstGeom prst="ellipse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63943" y="276148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Emit three-address code</a:t>
            </a:r>
          </a:p>
        </p:txBody>
      </p:sp>
      <p:sp>
        <p:nvSpPr>
          <p:cNvPr id="26" name="Oval 25"/>
          <p:cNvSpPr/>
          <p:nvPr/>
        </p:nvSpPr>
        <p:spPr>
          <a:xfrm>
            <a:off x="6607911" y="3223260"/>
            <a:ext cx="77724" cy="77724"/>
          </a:xfrm>
          <a:prstGeom prst="ellipse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3943" y="312724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Support floats, arrays or classes</a:t>
            </a:r>
          </a:p>
        </p:txBody>
      </p:sp>
      <p:sp>
        <p:nvSpPr>
          <p:cNvPr id="28" name="Oval 27"/>
          <p:cNvSpPr/>
          <p:nvPr/>
        </p:nvSpPr>
        <p:spPr>
          <a:xfrm>
            <a:off x="6607911" y="3589020"/>
            <a:ext cx="77724" cy="77724"/>
          </a:xfrm>
          <a:prstGeom prst="ellipse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63943" y="349300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Add modules or imports</a:t>
            </a:r>
          </a:p>
        </p:txBody>
      </p:sp>
      <p:sp>
        <p:nvSpPr>
          <p:cNvPr id="30" name="Oval 29"/>
          <p:cNvSpPr/>
          <p:nvPr/>
        </p:nvSpPr>
        <p:spPr>
          <a:xfrm>
            <a:off x="6607911" y="3954780"/>
            <a:ext cx="77724" cy="77724"/>
          </a:xfrm>
          <a:prstGeom prst="ellipse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63943" y="3858768"/>
            <a:ext cx="4376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4357"/>
                </a:solidFill>
                <a:latin typeface="Arial"/>
              </a:rPr>
              <a:t>Deploy it to the web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92624"/>
            <a:ext cx="10911535" cy="804672"/>
          </a:xfrm>
          <a:prstGeom prst="roundRect">
            <a:avLst>
              <a:gd name="adj" fmla="val 5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992624"/>
            <a:ext cx="54864" cy="8046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084064"/>
            <a:ext cx="1036289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11827"/>
                </a:solidFill>
                <a:latin typeface="Arial"/>
              </a:rPr>
              <a:t>Four phases done thoroughly beats six phases done shallowly.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459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A8BA"/>
                </a:solidFill>
                <a:latin typeface="Arial"/>
              </a:rPr>
              <a:t>LUCID</a:t>
            </a:r>
            <a:r>
              <a:rPr sz="950" b="1" i="0">
                <a:solidFill>
                  <a:srgbClr val="A0A8BA"/>
                </a:solidFill>
                <a:latin typeface="Arial"/>
              </a:rPr>
              <a:t>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</a:rPr>
              <a:t>Three layers, one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7498079" cy="987552"/>
          </a:xfrm>
          <a:prstGeom prst="roundRect">
            <a:avLst>
              <a:gd name="adj" fmla="val 5000"/>
            </a:avLst>
          </a:prstGeom>
          <a:solidFill>
            <a:srgbClr val="E7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9875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920240"/>
            <a:ext cx="689457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PLAYGROUND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50" b="0" i="0">
                <a:solidFill>
                  <a:srgbClr val="111827"/>
                </a:solidFill>
                <a:latin typeface="Arial"/>
              </a:rPr>
              <a:t>Browser · five live panels · AI assistant</a:t>
            </a:r>
          </a:p>
        </p:txBody>
      </p:sp>
      <p:sp>
        <p:nvSpPr>
          <p:cNvPr id="7" name="Down Arrow 6"/>
          <p:cNvSpPr/>
          <p:nvPr/>
        </p:nvSpPr>
        <p:spPr>
          <a:xfrm>
            <a:off x="1143000" y="2907791"/>
            <a:ext cx="219456" cy="402336"/>
          </a:xfrm>
          <a:prstGeom prst="down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962656"/>
            <a:ext cx="62179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Courier New"/>
              </a:rPr>
              <a:t>one request  ·  one JSON reply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93008"/>
            <a:ext cx="7498079" cy="859536"/>
          </a:xfrm>
          <a:prstGeom prst="roundRect">
            <a:avLst>
              <a:gd name="adj" fmla="val 5000"/>
            </a:avLst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54864" cy="8595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39312"/>
            <a:ext cx="689457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Arial"/>
              </a:rPr>
              <a:t>SERVER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50" b="0" i="0">
                <a:solidFill>
                  <a:srgbClr val="111827"/>
                </a:solidFill>
                <a:latin typeface="Arial"/>
              </a:rPr>
              <a:t>A thin C++ shell — no compiler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53712"/>
            <a:ext cx="7498079" cy="1408176"/>
          </a:xfrm>
          <a:prstGeom prst="roundRect">
            <a:avLst>
              <a:gd name="adj" fmla="val 5000"/>
            </a:avLst>
          </a:prstGeom>
          <a:solidFill>
            <a:srgbClr val="F2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553712"/>
            <a:ext cx="54864" cy="14081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700016"/>
            <a:ext cx="6894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Arial"/>
              </a:rPr>
              <a:t>THE COMPILER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5102351"/>
            <a:ext cx="1272844" cy="640080"/>
          </a:xfrm>
          <a:prstGeom prst="roundRect">
            <a:avLst>
              <a:gd name="adj" fmla="val 5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" y="5102351"/>
            <a:ext cx="1272844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221223"/>
            <a:ext cx="11265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7706"/>
                </a:solidFill>
                <a:latin typeface="Arial"/>
              </a:rPr>
              <a:t>LEXER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251252" y="5349239"/>
            <a:ext cx="7315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51836" y="5102351"/>
            <a:ext cx="1272844" cy="640080"/>
          </a:xfrm>
          <a:prstGeom prst="roundRect">
            <a:avLst>
              <a:gd name="adj" fmla="val 5000"/>
            </a:avLst>
          </a:prstGeom>
          <a:solidFill>
            <a:srgbClr val="E7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51836" y="5102351"/>
            <a:ext cx="1272844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4988" y="5221223"/>
            <a:ext cx="11265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Arial"/>
              </a:rPr>
              <a:t>PARSER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652113" y="5349239"/>
            <a:ext cx="7315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52697" y="5102351"/>
            <a:ext cx="1272844" cy="640080"/>
          </a:xfrm>
          <a:prstGeom prst="roundRect">
            <a:avLst>
              <a:gd name="adj" fmla="val 5000"/>
            </a:avLst>
          </a:prstGeom>
          <a:solidFill>
            <a:srgbClr val="F2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52697" y="5102351"/>
            <a:ext cx="1272844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25849" y="5221223"/>
            <a:ext cx="11265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3AED"/>
                </a:solidFill>
                <a:latin typeface="Arial"/>
              </a:rPr>
              <a:t>SEMANTIC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052974" y="5349239"/>
            <a:ext cx="7315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53558" y="5102351"/>
            <a:ext cx="1272844" cy="640080"/>
          </a:xfrm>
          <a:prstGeom prst="roundRect">
            <a:avLst>
              <a:gd name="adj" fmla="val 5000"/>
            </a:avLst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53558" y="5102351"/>
            <a:ext cx="1272844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6710" y="5221223"/>
            <a:ext cx="11265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9488"/>
                </a:solidFill>
                <a:latin typeface="Arial"/>
              </a:rPr>
              <a:t>OPTIMIZER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453835" y="5349239"/>
            <a:ext cx="7315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54419" y="5102351"/>
            <a:ext cx="1272844" cy="640080"/>
          </a:xfrm>
          <a:prstGeom prst="roundRect">
            <a:avLst>
              <a:gd name="adj" fmla="val 5000"/>
            </a:avLst>
          </a:prstGeom>
          <a:solidFill>
            <a:srgbClr val="FD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54419" y="5102351"/>
            <a:ext cx="1272844" cy="502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7571" y="5221223"/>
            <a:ext cx="11265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11D48"/>
                </a:solidFill>
                <a:latin typeface="Arial"/>
              </a:rPr>
              <a:t>INTERPRETER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59" y="1737360"/>
            <a:ext cx="295625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51391" y="2011679"/>
            <a:ext cx="24441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Arial"/>
              </a:rPr>
              <a:t>Pure C++17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391" y="2432304"/>
            <a:ext cx="24441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8B"/>
                </a:solidFill>
                <a:latin typeface="Arial"/>
              </a:rPr>
              <a:t>No network. No framework.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59" y="3072384"/>
            <a:ext cx="295625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51391" y="3346703"/>
            <a:ext cx="24441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Arial"/>
              </a:rPr>
              <a:t>Runs two ways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1" y="3767328"/>
            <a:ext cx="24441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8B"/>
                </a:solidFill>
                <a:latin typeface="Arial"/>
              </a:rPr>
              <a:t>In a browser, or in a terminal.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59" y="4407408"/>
            <a:ext cx="295625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51391" y="4681728"/>
            <a:ext cx="244419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827"/>
                </a:solidFill>
                <a:latin typeface="Arial"/>
              </a:rPr>
              <a:t>AI sits outside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1391" y="5102352"/>
            <a:ext cx="24441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48B"/>
                </a:solidFill>
                <a:latin typeface="Arial"/>
              </a:rPr>
              <a:t>Remove it — nothing breaks.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3459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A8BA"/>
                </a:solidFill>
                <a:latin typeface="Arial"/>
              </a:rPr>
              <a:t>LUCID</a:t>
            </a:r>
            <a:r>
              <a:rPr sz="950" b="1" i="0">
                <a:solidFill>
                  <a:srgbClr val="A0A8BA"/>
                </a:solidFill>
                <a:latin typeface="Arial"/>
              </a:rPr>
              <a:t>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</a:rPr>
              <a:t>Source in, five stages, output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73936"/>
            <a:ext cx="200674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73936"/>
            <a:ext cx="2006742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066543"/>
            <a:ext cx="475488" cy="475488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7706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688336"/>
            <a:ext cx="153125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LEXER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08960"/>
            <a:ext cx="153125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A4357"/>
                </a:solidFill>
                <a:latin typeface="Arial"/>
              </a:rPr>
              <a:t>Reads the text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Splits it into tokens.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74254" y="2871215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66278" y="1773936"/>
            <a:ext cx="200674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6278" y="1773936"/>
            <a:ext cx="200674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04022" y="2066543"/>
            <a:ext cx="475488" cy="475488"/>
          </a:xfrm>
          <a:prstGeom prst="ellipse">
            <a:avLst/>
          </a:prstGeom>
          <a:solidFill>
            <a:srgbClr val="E7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4022" y="2688336"/>
            <a:ext cx="153125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4022" y="3108960"/>
            <a:ext cx="153125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A4357"/>
                </a:solidFill>
                <a:latin typeface="Arial"/>
              </a:rPr>
              <a:t>Builds the tree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Checks the grammar.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00452" y="2871215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2476" y="1773936"/>
            <a:ext cx="200674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92476" y="1773936"/>
            <a:ext cx="2006742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30220" y="2066543"/>
            <a:ext cx="475488" cy="475488"/>
          </a:xfrm>
          <a:prstGeom prst="ellipse">
            <a:avLst/>
          </a:prstGeom>
          <a:solidFill>
            <a:srgbClr val="F2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C3AED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220" y="2688336"/>
            <a:ext cx="153125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SEMANTIC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220" y="3108960"/>
            <a:ext cx="153125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A4357"/>
                </a:solidFill>
                <a:latin typeface="Arial"/>
              </a:rPr>
              <a:t>Checks meaning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Types, names and scopes.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26650" y="2871215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8674" y="1773936"/>
            <a:ext cx="200674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8674" y="1773936"/>
            <a:ext cx="2006742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56418" y="2066543"/>
            <a:ext cx="475488" cy="475488"/>
          </a:xfrm>
          <a:prstGeom prst="ellipse">
            <a:avLst/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D9488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6418" y="2688336"/>
            <a:ext cx="153125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OPTIMIZER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6418" y="3108960"/>
            <a:ext cx="153125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A4357"/>
                </a:solidFill>
                <a:latin typeface="Arial"/>
              </a:rPr>
              <a:t>Shrinks the tree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Removes dead code.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52848" y="2871215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44872" y="1773936"/>
            <a:ext cx="200674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44872" y="1773936"/>
            <a:ext cx="2006742" cy="7315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82616" y="2066543"/>
            <a:ext cx="475488" cy="475488"/>
          </a:xfrm>
          <a:prstGeom prst="ellipse">
            <a:avLst/>
          </a:prstGeom>
          <a:solidFill>
            <a:srgbClr val="FD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11D48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2616" y="2688336"/>
            <a:ext cx="153125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27"/>
                </a:solidFill>
                <a:latin typeface="Arial"/>
              </a:rPr>
              <a:t>INTERPRETER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2616" y="3108960"/>
            <a:ext cx="153125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A4357"/>
                </a:solidFill>
                <a:latin typeface="Arial"/>
              </a:rPr>
              <a:t>Runs the program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Prints the output.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334256"/>
            <a:ext cx="10911535" cy="822960"/>
          </a:xfrm>
          <a:prstGeom prst="roundRect">
            <a:avLst>
              <a:gd name="adj" fmla="val 5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334256"/>
            <a:ext cx="54864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425696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Break your code and the pipeline stops at the phase that rejected it — you see exactly where.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3459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A8BA"/>
                </a:solidFill>
                <a:latin typeface="Arial"/>
              </a:rPr>
              <a:t>LUCID</a:t>
            </a:r>
            <a:r>
              <a:rPr sz="950" b="1" i="0">
                <a:solidFill>
                  <a:srgbClr val="A0A8BA"/>
                </a:solidFill>
                <a:latin typeface="Arial"/>
              </a:rPr>
              <a:t>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COMPILER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</a:rPr>
              <a:t>The theory, running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91175" cy="49377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0292" cy="4937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4233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Arial"/>
              </a:rPr>
              <a:t>Tokens and maximal munch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8175" y="1737360"/>
            <a:ext cx="15361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Arial"/>
              </a:rPr>
              <a:t>Lexer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5291175" cy="49377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50292" cy="4937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14233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Arial"/>
              </a:rPr>
              <a:t>Grammar and recursive descent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8175" y="2377440"/>
            <a:ext cx="15361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Parser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5291175" cy="49377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50292" cy="4937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314233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Arial"/>
              </a:rPr>
              <a:t>Operator precedence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8175" y="3017520"/>
            <a:ext cx="15361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Parser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291175" cy="49377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50292" cy="4937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314233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Arial"/>
              </a:rPr>
              <a:t>Panic-mode error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8175" y="3657600"/>
            <a:ext cx="15361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Parser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5291175" cy="49377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97680"/>
            <a:ext cx="50292" cy="4937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314233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Arial"/>
              </a:rPr>
              <a:t>Symbol table and scopes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8175" y="4297680"/>
            <a:ext cx="15361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Semantic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0439" y="1737360"/>
            <a:ext cx="5291175" cy="49377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0439" y="1737360"/>
            <a:ext cx="50292" cy="4937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4759" y="1737360"/>
            <a:ext cx="314233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Arial"/>
              </a:rPr>
              <a:t>Static type checking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8535" y="1737360"/>
            <a:ext cx="15361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Semantic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0439" y="2377440"/>
            <a:ext cx="5291175" cy="49377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0439" y="2377440"/>
            <a:ext cx="50292" cy="49377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4759" y="2377440"/>
            <a:ext cx="314233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Arial"/>
              </a:rPr>
              <a:t>Constant folding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8535" y="2377440"/>
            <a:ext cx="15361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D9488"/>
                </a:solidFill>
                <a:latin typeface="Arial"/>
              </a:rPr>
              <a:t>Optimizer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0439" y="3017520"/>
            <a:ext cx="5291175" cy="49377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0439" y="3017520"/>
            <a:ext cx="50292" cy="49377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4759" y="3017520"/>
            <a:ext cx="314233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Arial"/>
              </a:rPr>
              <a:t>Dead-code elimination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8535" y="3017520"/>
            <a:ext cx="15361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D9488"/>
                </a:solidFill>
                <a:latin typeface="Arial"/>
              </a:rPr>
              <a:t>Optimizer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0439" y="3657600"/>
            <a:ext cx="5291175" cy="49377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0439" y="3657600"/>
            <a:ext cx="50292" cy="49377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4759" y="3657600"/>
            <a:ext cx="314233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827"/>
                </a:solidFill>
                <a:latin typeface="Arial"/>
              </a:rPr>
              <a:t>Activation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8535" y="3657600"/>
            <a:ext cx="153619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1D48"/>
                </a:solidFill>
                <a:latin typeface="Arial"/>
              </a:rPr>
              <a:t>Interpreter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0439" y="4937760"/>
            <a:ext cx="5291175" cy="1005840"/>
          </a:xfrm>
          <a:prstGeom prst="roundRect">
            <a:avLst>
              <a:gd name="adj" fmla="val 5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0439" y="4937760"/>
            <a:ext cx="54864" cy="10058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3047" y="5029200"/>
            <a:ext cx="4742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Implemented — and visible while it runs.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3459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A8BA"/>
                </a:solidFill>
                <a:latin typeface="Arial"/>
              </a:rPr>
              <a:t>LUCID</a:t>
            </a:r>
            <a:r>
              <a:rPr sz="950" b="1" i="0">
                <a:solidFill>
                  <a:srgbClr val="A0A8BA"/>
                </a:solidFill>
                <a:latin typeface="Arial"/>
              </a:rPr>
              <a:t>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</a:rPr>
              <a:t>What makes it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64208"/>
            <a:ext cx="3454298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3454298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56816"/>
            <a:ext cx="658368" cy="420624"/>
          </a:xfrm>
          <a:prstGeom prst="roundRect">
            <a:avLst>
              <a:gd name="adj" fmla="val 5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Arial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23744"/>
            <a:ext cx="290565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AI explains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62656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Plain English, on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664208"/>
            <a:ext cx="3454298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8698" y="1664208"/>
            <a:ext cx="3454298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3018" y="1956816"/>
            <a:ext cx="658368" cy="420624"/>
          </a:xfrm>
          <a:prstGeom prst="roundRect">
            <a:avLst>
              <a:gd name="adj" fmla="val 5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Arial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018" y="2523744"/>
            <a:ext cx="290565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AI fixes your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2962656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Then the compiler re-checks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664208"/>
            <a:ext cx="3454298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1664208"/>
            <a:ext cx="3454298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71636" y="1956816"/>
            <a:ext cx="658368" cy="420624"/>
          </a:xfrm>
          <a:prstGeom prst="roundRect">
            <a:avLst>
              <a:gd name="adj" fmla="val 5000"/>
            </a:avLst>
          </a:prstGeom>
          <a:solidFill>
            <a:srgbClr val="E7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63EB"/>
                </a:solidFill>
                <a:latin typeface="Arial"/>
              </a:rPr>
              <a:t>&lt; 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2523744"/>
            <a:ext cx="290565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Live playground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1636" y="2962656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Five panels, updating as you 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95344"/>
            <a:ext cx="3454298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95344"/>
            <a:ext cx="3454298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187952"/>
            <a:ext cx="658368" cy="420624"/>
          </a:xfrm>
          <a:prstGeom prst="roundRect">
            <a:avLst>
              <a:gd name="adj" fmla="val 5000"/>
            </a:avLst>
          </a:prstGeom>
          <a:solidFill>
            <a:srgbClr val="F2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3AED"/>
                </a:solidFill>
                <a:latin typeface="Arial"/>
              </a:rPr>
              <a:t>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54879"/>
            <a:ext cx="290565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Visual syntax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93792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Watch the tree take shape.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8698" y="3895344"/>
            <a:ext cx="3454298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8698" y="3895344"/>
            <a:ext cx="3454298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43018" y="4187952"/>
            <a:ext cx="658368" cy="420624"/>
          </a:xfrm>
          <a:prstGeom prst="roundRect">
            <a:avLst>
              <a:gd name="adj" fmla="val 5000"/>
            </a:avLst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9488"/>
                </a:solidFill>
                <a:latin typeface="Arial"/>
              </a:rPr>
              <a:t>55%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3018" y="4754879"/>
            <a:ext cx="290565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Real optimisation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3018" y="5193792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38 nodes become 17.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7316" y="3895344"/>
            <a:ext cx="3454298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7316" y="3895344"/>
            <a:ext cx="3454298" cy="685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71636" y="4187952"/>
            <a:ext cx="658368" cy="420624"/>
          </a:xfrm>
          <a:prstGeom prst="roundRect">
            <a:avLst>
              <a:gd name="adj" fmla="val 5000"/>
            </a:avLst>
          </a:prstGeom>
          <a:solidFill>
            <a:srgbClr val="FD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11D48"/>
                </a:solidFill>
                <a:latin typeface="Arial"/>
              </a:rP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1636" y="4754879"/>
            <a:ext cx="290565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827"/>
                </a:solidFill>
                <a:latin typeface="Arial"/>
              </a:rPr>
              <a:t>Did you mean...?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1636" y="5193792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Spelling help on unknown names.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3459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A8BA"/>
                </a:solidFill>
                <a:latin typeface="Arial"/>
              </a:rPr>
              <a:t>LUCID</a:t>
            </a:r>
            <a:r>
              <a:rPr sz="950" b="1" i="0">
                <a:solidFill>
                  <a:srgbClr val="A0A8BA"/>
                </a:solidFill>
                <a:latin typeface="Arial"/>
              </a:rPr>
              <a:t>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THE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</a:rPr>
              <a:t>It explains. It never decides.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368954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" y="2103120"/>
            <a:ext cx="512064" cy="512064"/>
          </a:xfrm>
          <a:prstGeom prst="ellipse">
            <a:avLst/>
          </a:prstGeom>
          <a:solidFill>
            <a:srgbClr val="E7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2743200"/>
            <a:ext cx="274716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SEND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108960"/>
            <a:ext cx="274716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Your broken code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and our error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82186" y="2633472"/>
            <a:ext cx="256032" cy="182880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1370" y="1828800"/>
            <a:ext cx="3368954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22266" y="2103120"/>
            <a:ext cx="512064" cy="512064"/>
          </a:xfrm>
          <a:prstGeom prst="ellipse">
            <a:avLst/>
          </a:prstGeom>
          <a:solidFill>
            <a:srgbClr val="F2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C3AED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2266" y="2743200"/>
            <a:ext cx="274716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SUGGEST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2266" y="3108960"/>
            <a:ext cx="274716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The AI proposes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a correction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53476" y="2633472"/>
            <a:ext cx="256032" cy="182880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2660" y="1828800"/>
            <a:ext cx="3368954" cy="1773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93556" y="2103120"/>
            <a:ext cx="512064" cy="512064"/>
          </a:xfrm>
          <a:prstGeom prst="ellipse">
            <a:avLst/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D9488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3556" y="2743200"/>
            <a:ext cx="274716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3556" y="3108960"/>
            <a:ext cx="274716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Our compiler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48B"/>
                </a:solidFill>
                <a:latin typeface="Arial"/>
              </a:rPr>
              <a:t>re-checks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03904"/>
            <a:ext cx="10911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48B"/>
                </a:solidFill>
                <a:latin typeface="Arial"/>
              </a:rPr>
              <a:t>Repeats up to three times — until it compiles.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52544"/>
            <a:ext cx="10911535" cy="969264"/>
          </a:xfrm>
          <a:prstGeom prst="roundRect">
            <a:avLst>
              <a:gd name="adj" fmla="val 5000"/>
            </a:avLst>
          </a:prstGeom>
          <a:solidFill>
            <a:srgbClr val="EE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52544"/>
            <a:ext cx="54864" cy="9692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443983"/>
            <a:ext cx="1036289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11827"/>
                </a:solidFill>
                <a:latin typeface="Arial"/>
              </a:rPr>
              <a:t>The AI never decides whether your code is correct.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11827"/>
                </a:solidFill>
                <a:latin typeface="Arial"/>
              </a:rPr>
              <a:t>That verdict always comes from the compiler.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10911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748B"/>
                </a:solidFill>
                <a:latin typeface="Arial"/>
              </a:rPr>
              <a:t>Optional — the whole project works without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459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A8BA"/>
                </a:solidFill>
                <a:latin typeface="Arial"/>
              </a:rPr>
              <a:t>LUCID</a:t>
            </a:r>
            <a:r>
              <a:rPr sz="950" b="1" i="0">
                <a:solidFill>
                  <a:srgbClr val="A0A8BA"/>
                </a:solidFill>
                <a:latin typeface="Arial"/>
              </a:rPr>
              <a:t>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Arial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</a:rPr>
              <a:t>What you will see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11535" cy="58521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65376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616" y="1755648"/>
            <a:ext cx="35661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Write a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7216" y="1755648"/>
            <a:ext cx="612007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48B"/>
                </a:solidFill>
                <a:latin typeface="Arial"/>
              </a:rPr>
              <a:t>Tokens and the tree appear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50591"/>
            <a:ext cx="10911535" cy="58521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5603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450591"/>
            <a:ext cx="35661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Delete a semicolon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2450591"/>
            <a:ext cx="612007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48B"/>
                </a:solidFill>
                <a:latin typeface="Arial"/>
              </a:rPr>
              <a:t>It stops at the syntax stage.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45536"/>
            <a:ext cx="10911535" cy="58521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25526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145536"/>
            <a:ext cx="35661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Break the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3145536"/>
            <a:ext cx="612007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48B"/>
                </a:solidFill>
                <a:latin typeface="Arial"/>
              </a:rPr>
              <a:t>Three errors, all reported at once.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10911535" cy="58521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95020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840480"/>
            <a:ext cx="35661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Misspell a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3840480"/>
            <a:ext cx="612007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48B"/>
                </a:solidFill>
                <a:latin typeface="Arial"/>
              </a:rPr>
              <a:t>It asks: did you mean 'count'?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35424"/>
            <a:ext cx="10911535" cy="58521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645152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535424"/>
            <a:ext cx="35661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Run the 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35424"/>
            <a:ext cx="612007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48B"/>
                </a:solidFill>
                <a:latin typeface="Arial"/>
              </a:rPr>
              <a:t>38 nodes become 17, side by side.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30368"/>
            <a:ext cx="10911535" cy="58521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0096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82296" bIns="82296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5230368"/>
            <a:ext cx="356616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</a:rPr>
              <a:t>Press Fix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5230368"/>
            <a:ext cx="612007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48B"/>
                </a:solidFill>
                <a:latin typeface="Arial"/>
              </a:rPr>
              <a:t>The AI repairs it, the compiler confirms.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45936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0A8BA"/>
                </a:solidFill>
                <a:latin typeface="Arial"/>
              </a:rPr>
              <a:t>LUCID</a:t>
            </a:r>
            <a:r>
              <a:rPr sz="950" b="1" i="0">
                <a:solidFill>
                  <a:srgbClr val="A0A8BA"/>
                </a:solidFill>
                <a:latin typeface="Arial"/>
              </a:rPr>
              <a:t>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76272"/>
            <a:ext cx="10911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46E5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15184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11827"/>
                </a:solidFill>
                <a:latin typeface="Arial"/>
              </a:rPr>
              <a:t>Lucid</a:t>
            </a:r>
            <a:r>
              <a:rPr sz="3400" b="0" i="0">
                <a:solidFill>
                  <a:srgbClr val="111827"/>
                </a:solidFill>
                <a:latin typeface="Arial"/>
              </a:rPr>
              <a:t> makes a compiler visible while it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352544"/>
            <a:ext cx="2006742" cy="731520"/>
          </a:xfrm>
          <a:prstGeom prst="roundRect">
            <a:avLst>
              <a:gd name="adj" fmla="val 5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4352544"/>
            <a:ext cx="2006742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4471416"/>
            <a:ext cx="186043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Arial"/>
              </a:rPr>
              <a:t>LEXER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48B"/>
                </a:solidFill>
                <a:latin typeface="Arial"/>
              </a:rPr>
              <a:t>text to tokens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74254" y="4645152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66278" y="4352544"/>
            <a:ext cx="2006742" cy="731520"/>
          </a:xfrm>
          <a:prstGeom prst="roundRect">
            <a:avLst>
              <a:gd name="adj" fmla="val 5000"/>
            </a:avLst>
          </a:prstGeom>
          <a:solidFill>
            <a:srgbClr val="E7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66278" y="4352544"/>
            <a:ext cx="2006742" cy="502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9430" y="4471416"/>
            <a:ext cx="186043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63EB"/>
                </a:solidFill>
                <a:latin typeface="Arial"/>
              </a:rPr>
              <a:t>PARSER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48B"/>
                </a:solidFill>
                <a:latin typeface="Arial"/>
              </a:rPr>
              <a:t>tokens to tree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00452" y="4645152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92476" y="4352544"/>
            <a:ext cx="2006742" cy="731520"/>
          </a:xfrm>
          <a:prstGeom prst="roundRect">
            <a:avLst>
              <a:gd name="adj" fmla="val 5000"/>
            </a:avLst>
          </a:prstGeom>
          <a:solidFill>
            <a:srgbClr val="F2E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92476" y="4352544"/>
            <a:ext cx="2006742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5628" y="4471416"/>
            <a:ext cx="186043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Arial"/>
              </a:rPr>
              <a:t>SEMANTIC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48B"/>
                </a:solidFill>
                <a:latin typeface="Arial"/>
              </a:rPr>
              <a:t>types &amp; scopes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26650" y="4645152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8674" y="4352544"/>
            <a:ext cx="2006742" cy="731520"/>
          </a:xfrm>
          <a:prstGeom prst="roundRect">
            <a:avLst>
              <a:gd name="adj" fmla="val 5000"/>
            </a:avLst>
          </a:prstGeom>
          <a:solidFill>
            <a:srgbClr val="E1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8674" y="4352544"/>
            <a:ext cx="2006742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91826" y="4471416"/>
            <a:ext cx="186043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D9488"/>
                </a:solidFill>
                <a:latin typeface="Arial"/>
              </a:rPr>
              <a:t>OPTIMIZER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48B"/>
                </a:solidFill>
                <a:latin typeface="Arial"/>
              </a:rPr>
              <a:t>shrink the tree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52848" y="4645152"/>
            <a:ext cx="164592" cy="146304"/>
          </a:xfrm>
          <a:prstGeom prst="rightArrow">
            <a:avLst/>
          </a:prstGeom>
          <a:solidFill>
            <a:srgbClr val="A0A8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44872" y="4352544"/>
            <a:ext cx="2006742" cy="731520"/>
          </a:xfrm>
          <a:prstGeom prst="roundRect">
            <a:avLst>
              <a:gd name="adj" fmla="val 5000"/>
            </a:avLst>
          </a:prstGeom>
          <a:solidFill>
            <a:srgbClr val="FD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44872" y="4352544"/>
            <a:ext cx="2006742" cy="502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2296" bIns="8229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8024" y="4471416"/>
            <a:ext cx="186043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1D48"/>
                </a:solidFill>
                <a:latin typeface="Arial"/>
              </a:rPr>
              <a:t>INTERPRETER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48B"/>
                </a:solidFill>
                <a:latin typeface="Arial"/>
              </a:rPr>
              <a:t>run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48B"/>
                </a:solidFill>
                <a:latin typeface="Arial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